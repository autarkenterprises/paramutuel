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PARAMUTUEL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7863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00D4AA"/>
                </a:solidFill>
                <a:latin typeface="Calibri"/>
              </a:defRPr>
            </a:pPr>
            <a:r>
              <a:t>The on-chain prop bet primitive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7863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Permissionless parimutuel betting for humans and machines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89120"/>
            <a:ext cx="7863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Investor Deck  |  March 2026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8638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"I'll bet you that..."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7315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Every day, millions say it. On Twitter, on streams, at dinner.</a:t>
            </a:r>
            <a:br/>
            <a:r>
              <a:t>Tech moguls tweet friendly wagers. Streamers poll their audiences.</a:t>
            </a:r>
            <a:br/>
            <a:r>
              <a:t>Friends debate outcomes over drinks.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3474720"/>
            <a:ext cx="54864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3520440"/>
            <a:ext cx="51206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Almost none of these bets are formalized.</a:t>
            </a:r>
            <a:br/>
            <a:r>
              <a:t>The ones that are get shoehorned into platforms built for trading, not betting.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2606040" cy="29260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60604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22402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Prediction markets</a:t>
            </a:r>
            <a:br/>
            <a:r>
              <a:t>are for traders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224028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CLOB/AMM mechanics.</a:t>
            </a:r>
            <a:br/>
            <a:r>
              <a:t>Continuous pricing.</a:t>
            </a:r>
            <a:br/>
            <a:r>
              <a:t>Trading UX, not betting.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463040"/>
            <a:ext cx="2606040" cy="29260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1463040"/>
            <a:ext cx="260604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691640"/>
            <a:ext cx="22402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Existing tools are</a:t>
            </a:r>
            <a:br/>
            <a:r>
              <a:t>platform-locked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514600"/>
            <a:ext cx="224028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Twitch Predictions: fake currency.</a:t>
            </a:r>
            <a:br/>
            <a:r>
              <a:t>Crypto casinos: house always wins.</a:t>
            </a:r>
            <a:br/>
            <a:r>
              <a:t>PayPal escrow: trust-dependent.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2606040" cy="29260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260604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91640"/>
            <a:ext cx="22402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No permissionless</a:t>
            </a:r>
            <a:br/>
            <a:r>
              <a:t>prop bet primitive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14600"/>
            <a:ext cx="224028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No way to instantly create</a:t>
            </a:r>
            <a:br/>
            <a:r>
              <a:t>a multi-outcome, real-money</a:t>
            </a:r>
            <a:br/>
            <a:r>
              <a:t>bet that anyone can join.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A permissionless, immutable smart contract protocol</a:t>
            </a:r>
            <a:br/>
            <a:r>
              <a:t>for arbitrary parimutuel prop bets on Base (Ethereum L2)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1463040" cy="5486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00D4AA"/>
                </a:solidFill>
                <a:latin typeface="Calibri"/>
              </a:defRPr>
            </a:pPr>
            <a:r>
              <a:t>PROPOSE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05740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011680"/>
            <a:ext cx="1463040" cy="5486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057400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00D4AA"/>
                </a:solidFill>
                <a:latin typeface="Calibri"/>
              </a:defRPr>
            </a:pPr>
            <a:r>
              <a:t>BET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05740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2011680"/>
            <a:ext cx="1463040" cy="5486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2057400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00D4AA"/>
                </a:solidFill>
                <a:latin typeface="Calibri"/>
              </a:defRPr>
            </a:pPr>
            <a:r>
              <a:t>RESOLVE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5740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2011680"/>
            <a:ext cx="1463040" cy="5486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2057400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00D4AA"/>
                </a:solidFill>
                <a:latin typeface="Calibri"/>
              </a:defRPr>
            </a:pPr>
            <a:r>
              <a:t>CLAIM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880360"/>
            <a:ext cx="1828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F59E0B"/>
                </a:solidFill>
                <a:latin typeface="Calibri"/>
              </a:defRPr>
            </a:pPr>
            <a:r>
              <a:t>2-64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4290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outcomes per market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2880360"/>
            <a:ext cx="1828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F59E0B"/>
                </a:solidFill>
                <a:latin typeface="Calibri"/>
              </a:defRPr>
            </a:pPr>
            <a:r>
              <a:t>ERC-20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4290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any collateral token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880360"/>
            <a:ext cx="1828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F59E0B"/>
                </a:solidFill>
                <a:latin typeface="Calibri"/>
              </a:defRPr>
            </a:pPr>
            <a:r>
              <a:t>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4290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protocol fee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79" y="2880360"/>
            <a:ext cx="1828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F59E0B"/>
                </a:solidFill>
                <a:latin typeface="Calibri"/>
              </a:defRPr>
            </a:pPr>
            <a:r>
              <a:t>~$0.02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79" y="34290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to create a market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931920"/>
            <a:ext cx="7863840" cy="10972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  <a:buChar char="•"/>
              <a:buClr>
                <a:srgbClr val="00D4AA"/>
              </a:buClr>
            </a:pPr>
            <a:r>
              <a:t>Anyone can propose a market — no approval, no platform gatekeeping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  <a:buChar char="•"/>
              <a:buClr>
                <a:srgbClr val="00D4AA"/>
              </a:buClr>
            </a:pPr>
            <a:r>
              <a:t>Winners split the pot pro rata — no house edge, no market maker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  <a:buChar char="•"/>
              <a:buClr>
                <a:srgbClr val="00D4AA"/>
              </a:buClr>
            </a:pPr>
            <a:r>
              <a:t>Resolution is modular — creator-resolved today, oracle/DAO tomorrow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As easy as posting a poll, but with real stakes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19" y="137160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0D4A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77440"/>
            <a:ext cx="1920240" cy="16459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59" y="2514600"/>
            <a:ext cx="16459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Anyone creates a market:</a:t>
            </a:r>
            <a:br/>
            <a:r>
              <a:t>"Will X happen?"</a:t>
            </a:r>
            <a:br/>
            <a:r>
              <a:t>with 2-64 text outcomes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37160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0D4A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92024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2377440"/>
            <a:ext cx="1920240" cy="16459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2514600"/>
            <a:ext cx="16459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Participants deposit</a:t>
            </a:r>
            <a:br/>
            <a:r>
              <a:t>ERC-20 tokens into the</a:t>
            </a:r>
            <a:br/>
            <a:r>
              <a:t>outcome pool of their choice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137160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0D4A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92024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RESOLVE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2377440"/>
            <a:ext cx="1920240" cy="16459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79" y="2514600"/>
            <a:ext cx="16459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Designated resolver</a:t>
            </a:r>
            <a:br/>
            <a:r>
              <a:t>declares the winning</a:t>
            </a:r>
            <a:br/>
            <a:r>
              <a:t>outcome after the event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799" y="137160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00D4A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79" y="192024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CLAIM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79" y="2377440"/>
            <a:ext cx="1920240" cy="16459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39" y="2514600"/>
            <a:ext cx="16459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Winners claim pro-rata</a:t>
            </a:r>
            <a:br/>
            <a:r>
              <a:t>share of the pot.</a:t>
            </a:r>
            <a:br/>
            <a:r>
              <a:t>Losers' stakes pay winners.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00D4AA"/>
                </a:solidFill>
                <a:latin typeface="Calibri"/>
              </a:defRPr>
            </a:pPr>
            <a:r>
              <a:t>Immutable smart contracts on Base  |  No admin keys  |  No upgrade path  |  Funds secured by code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Why Parimutuel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53312"/>
            <a:ext cx="54864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No market maker needed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75895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Unlike AMM/CLOB prediction markets, parimutuel pools</a:t>
            </a:r>
            <a:br/>
            <a:r>
              <a:t>don't require liquidity providers or sophisticated market makers.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67712"/>
            <a:ext cx="54864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No adverse selection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75895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No informed-trader problem. Everyone bets into the same pool.</a:t>
            </a:r>
            <a:br/>
            <a:r>
              <a:t>No spread to exploit, minimal MEV surface.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182112"/>
            <a:ext cx="54864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Natural social primitive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29000"/>
            <a:ext cx="75895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"Everyone throw $20 in and the right answer wins" is how</a:t>
            </a:r>
            <a:br/>
            <a:r>
              <a:t>real-world bets work. This is that, on-chain.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096512"/>
            <a:ext cx="54864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233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100+ year track record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43400"/>
            <a:ext cx="75895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Parimutuel mechanics have powered horse racing globally</a:t>
            </a:r>
            <a:br/>
            <a:r>
              <a:t>since the 1800s. Battle-tested, well-understood.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Why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931920" cy="14630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00D4AA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50876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L2 costs make this viable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874519"/>
            <a:ext cx="30175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$0.02 to create a market. $0.002 to place a bet.</a:t>
            </a:r>
            <a:br/>
            <a:r>
              <a:t>The gas cost barrier that killed earlier attempts is gone.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371600"/>
            <a:ext cx="3931920" cy="14630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50876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00D4AA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150876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Creator economy meets crypto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1874519"/>
            <a:ext cx="30175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Streamers already use fake-currency predictions.</a:t>
            </a:r>
            <a:br/>
            <a:r>
              <a:t>Real-money on-chain prop bets are the obvious next step.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3931920" cy="14630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4612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00D4AA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24612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AI agents need betting infra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611880"/>
            <a:ext cx="30175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LLM agents managing portfolios need machine-readable</a:t>
            </a:r>
            <a:br/>
            <a:r>
              <a:t>betting protocols. We're building that interface first.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3108960"/>
            <a:ext cx="3931920" cy="14630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324612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00D4AA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324612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Prediction markets proved demand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3611880"/>
            <a:ext cx="30175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Polymarket's success proved massive demand for event</a:t>
            </a:r>
            <a:br/>
            <a:r>
              <a:t>speculation. The parimutuel format captures adjacent demand.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F59E0B"/>
                </a:solidFill>
                <a:latin typeface="Calibri"/>
              </a:defRPr>
            </a:pPr>
            <a:r>
              <a:t>$700B+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1645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Global gambling market</a:t>
            </a:r>
          </a:p>
        </p:txBody>
      </p:sp>
      <p:sp>
        <p:nvSpPr>
          <p:cNvPr id="7" name="Rectangle 6"/>
          <p:cNvSpPr/>
          <p:nvPr/>
        </p:nvSpPr>
        <p:spPr>
          <a:xfrm>
            <a:off x="2606040" y="1371600"/>
            <a:ext cx="1828800" cy="13716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06040" y="1463040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F59E0B"/>
                </a:solidFill>
                <a:latin typeface="Calibri"/>
              </a:defRPr>
            </a:pPr>
            <a:r>
              <a:t>$100B+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2057400"/>
            <a:ext cx="1645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Online / digital gambling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371600"/>
            <a:ext cx="1828800" cy="13716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463040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F59E0B"/>
                </a:solidFill>
                <a:latin typeface="Calibri"/>
              </a:defRPr>
            </a:pPr>
            <a:r>
              <a:t>$5-20B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057400"/>
            <a:ext cx="1645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On-chain speculation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03720" y="1371600"/>
            <a:ext cx="1828800" cy="13716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1463040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00D4AA"/>
                </a:solidFill>
                <a:latin typeface="Calibri"/>
              </a:defRPr>
            </a:pPr>
            <a: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2057400"/>
            <a:ext cx="1645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Prop betting + parimutuel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10896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0D4AA"/>
                </a:solidFill>
                <a:latin typeface="Calibri"/>
              </a:defRPr>
            </a:pPr>
            <a:r>
              <a:t>Our thesis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474720"/>
            <a:ext cx="76809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Formalizing the "let's bet" moment is a category-creation opportunity, not a share-steal play against existing sportsbooks.</a:t>
            </a:r>
            <a:br/>
            <a:br/>
            <a:r>
              <a:t>Polymarket proved demand for event-outcome speculation. But its CLOB/AMM format excludes casual, multi-outcome, social betting.</a:t>
            </a:r>
            <a:br/>
            <a:r>
              <a:t>The creator economy (2.5M+ full-time creators) and AI agents are two new distribution vectors that didn't exist 3 years ago.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0D4AA"/>
                </a:solidFill>
                <a:latin typeface="Calibri"/>
              </a:defRPr>
            </a:pPr>
            <a:r>
              <a:t>PARIMUTUEL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383280"/>
            <a:ext cx="1280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94A3B8"/>
                </a:solidFill>
                <a:latin typeface="Calibri"/>
              </a:defRPr>
            </a:pPr>
            <a:r>
              <a:t>CLOB / AMM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448056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94A3B8"/>
                </a:solidFill>
                <a:latin typeface="Calibri"/>
              </a:defRPr>
            </a:pPr>
            <a:r>
              <a:t>CURATED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48056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00D4AA"/>
                </a:solidFill>
                <a:latin typeface="Calibri"/>
              </a:defRPr>
            </a:pPr>
            <a:r>
              <a:t>PERMISSIONLESS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280160"/>
            <a:ext cx="3200400" cy="15544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137160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94A3B8"/>
                </a:solidFill>
                <a:latin typeface="Calibri"/>
              </a:defRPr>
            </a:pPr>
            <a:r>
              <a:t>Curated Parimutuel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691640"/>
            <a:ext cx="28346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Paradox (Gnosis multisig)</a:t>
            </a:r>
            <a:br/>
            <a:r>
              <a:t>OpenTote (racing-focused)</a:t>
            </a:r>
            <a:br/>
            <a:r>
              <a:t>Twitch Predictions (no real $)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280160"/>
            <a:ext cx="3657600" cy="155448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46320" y="1280160"/>
            <a:ext cx="54864" cy="15544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137160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0D4AA"/>
                </a:solidFill>
                <a:latin typeface="Calibri"/>
              </a:defRPr>
            </a:pPr>
            <a:r>
              <a:t>Permissionless Parimutuel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17373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PARAMUTUEL PROTOCOL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148840"/>
            <a:ext cx="3200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Arbitrary propositions, 2-64 outcomes</a:t>
            </a:r>
            <a:br/>
            <a:r>
              <a:t>Immutable, machine-readable, creator econ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017520"/>
            <a:ext cx="3200400" cy="12801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310896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94A3B8"/>
                </a:solidFill>
                <a:latin typeface="Calibri"/>
              </a:defRPr>
            </a:pPr>
            <a:r>
              <a:t>Curated Order Book / AMM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429000"/>
            <a:ext cx="28346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Azuro (bookmaker infra)</a:t>
            </a:r>
            <a:br/>
            <a:r>
              <a:t>Overtime (player props)</a:t>
            </a:r>
            <a:br/>
            <a:r>
              <a:t>Crypto sportsbooks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3017520"/>
            <a:ext cx="3657600" cy="12801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310896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94A3B8"/>
                </a:solidFill>
                <a:latin typeface="Calibri"/>
              </a:defRPr>
            </a:pPr>
            <a:r>
              <a:t>Permissionless Order 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42900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Polymarket (binary CLOB)</a:t>
            </a:r>
            <a:br/>
            <a:r>
              <a:t>Augur (historical)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Defensibility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931920" cy="13716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93192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Immutable Contracts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33832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No admin keys. No upgrade path. No rug-pull surface.</a:t>
            </a:r>
            <a:br/>
            <a:r>
              <a:t>The strongest trust guarantee in DeFi.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371600"/>
            <a:ext cx="3931920" cy="13716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0" y="1371600"/>
            <a:ext cx="393192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55448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Permissionless Creation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920240"/>
            <a:ext cx="33832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No approval needed. No gatekeeping.</a:t>
            </a:r>
            <a:br/>
            <a:r>
              <a:t>Humans and machines create markets equally.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17520"/>
            <a:ext cx="3931920" cy="13716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017520"/>
            <a:ext cx="393192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Machine-First Interfaces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66160"/>
            <a:ext cx="33832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ABI + JSON API + MCP server.</a:t>
            </a:r>
            <a:br/>
            <a:r>
              <a:t>First-mover for AI agent integration.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3017520"/>
            <a:ext cx="3931920" cy="13716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54880" y="3017520"/>
            <a:ext cx="393192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320040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Network Effects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566160"/>
            <a:ext cx="33832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Proposer reputation, bettor history, integrations.</a:t>
            </a:r>
            <a:br/>
            <a:r>
              <a:t>Switching costs compound over time.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1% protocol fee on the pot at market finalization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828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0" b="1">
                <a:solidFill>
                  <a:srgbClr val="00D4AA"/>
                </a:solidFill>
                <a:latin typeface="Calibri"/>
              </a:defRPr>
            </a:pPr>
            <a:r>
              <a:t>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protocol fee</a:t>
            </a:r>
            <a:br/>
            <a:r>
              <a:t>at finalization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371600"/>
            <a:ext cx="5486400" cy="25603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4630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0D4AA"/>
                </a:solidFill>
                <a:latin typeface="Calibri"/>
              </a:defRPr>
            </a:pPr>
            <a:r>
              <a:t>Monthly Handle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4630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00D4AA"/>
                </a:solidFill>
                <a:latin typeface="Calibri"/>
              </a:defRPr>
            </a:pPr>
            <a:r>
              <a:t>Annual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9202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$100k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9202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$12k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3774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$1M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3774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$120k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8346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$10M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8346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$1.2M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2918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$100M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918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$12M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2004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Revenue growth levers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66160"/>
            <a:ext cx="7863840" cy="13716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  <a:buChar char="•"/>
              <a:buClr>
                <a:srgbClr val="00D4AA"/>
              </a:buClr>
            </a:pPr>
            <a:r>
              <a:t>More markets (creator adoption, machine integration)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  <a:buChar char="•"/>
              <a:buClr>
                <a:srgbClr val="00D4AA"/>
              </a:buClr>
            </a:pPr>
            <a:r>
              <a:t>More bettors per market (distribution, UX)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  <a:buChar char="•"/>
              <a:buClr>
                <a:srgbClr val="00D4AA"/>
              </a:buClr>
            </a:pPr>
            <a:r>
              <a:t>Larger average bets (trust, reputation, liquidity)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  <a:buChar char="•"/>
              <a:buClr>
                <a:srgbClr val="00D4AA"/>
              </a:buClr>
            </a:pPr>
            <a:r>
              <a:t>Multi-chain deployment (Arbitrum, future L2s)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Creators are the distribution, not just the users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1965960" cy="32004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463040"/>
            <a:ext cx="1691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783080"/>
            <a:ext cx="16916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Creator-Led</a:t>
            </a:r>
            <a:br/>
            <a:r>
              <a:t>Launch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423160"/>
            <a:ext cx="169164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20-50 mid-tier streamers</a:t>
            </a:r>
            <a:br/>
            <a:r>
              <a:t>White-glove onboarding</a:t>
            </a:r>
            <a:br/>
            <a:r>
              <a:t>Fee revenue sharing</a:t>
            </a:r>
            <a:br/>
            <a:r>
              <a:t>Coordinated launch week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1371600"/>
            <a:ext cx="1965960" cy="32004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463040"/>
            <a:ext cx="1691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783080"/>
            <a:ext cx="16916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Crypto-Native</a:t>
            </a:r>
            <a:br/>
            <a:r>
              <a:t>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423160"/>
            <a:ext cx="169164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Discord / Telegram bots</a:t>
            </a:r>
            <a:br/>
            <a:r>
              <a:t>Farcaster Frames</a:t>
            </a:r>
            <a:br/>
            <a:r>
              <a:t>Flagship markets</a:t>
            </a:r>
            <a:br/>
            <a:r>
              <a:t>Hackathon bounties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1371600"/>
            <a:ext cx="1965960" cy="32004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1463040"/>
            <a:ext cx="1691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1783080"/>
            <a:ext cx="16916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Machine</a:t>
            </a:r>
            <a:br/>
            <a:r>
              <a:t>Distribution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423160"/>
            <a:ext cx="169164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MCP server for LLMs</a:t>
            </a:r>
            <a:br/>
            <a:r>
              <a:t>OpenAPI tool spec</a:t>
            </a:r>
            <a:br/>
            <a:r>
              <a:t>Embeddable SDK</a:t>
            </a:r>
            <a:br/>
            <a:r>
              <a:t>Agent frameworks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95160" y="1371600"/>
            <a:ext cx="1965960" cy="32004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1463040"/>
            <a:ext cx="1691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1783080"/>
            <a:ext cx="16916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Mainstream</a:t>
            </a:r>
            <a:br/>
            <a:r>
              <a:t>Expansion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423160"/>
            <a:ext cx="169164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Wallet abstraction</a:t>
            </a:r>
            <a:br/>
            <a:r>
              <a:t>Fiat on-ramps</a:t>
            </a:r>
            <a:br/>
            <a:r>
              <a:t>Mobile dApp</a:t>
            </a:r>
            <a:br/>
            <a:r>
              <a:t>Browser extension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Creator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Twitch gives you channel points. We give you revenue.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4114800" cy="32004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How creators 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3566160" cy="2286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Calibri"/>
              </a:defRPr>
              <a:buChar char="•"/>
              <a:buClr>
                <a:srgbClr val="00D4AA"/>
              </a:buClr>
            </a:pPr>
            <a:r>
              <a:t>Fee revenue: creator as fee recipient (50-100 bps per market)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Calibri"/>
              </a:defRPr>
              <a:buChar char="•"/>
              <a:buClr>
                <a:srgbClr val="00D4AA"/>
              </a:buClr>
            </a:pPr>
            <a:r>
              <a:t>Reputation: on-chain resolution history builds trust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Calibri"/>
              </a:defRPr>
              <a:buChar char="•"/>
              <a:buClr>
                <a:srgbClr val="00D4AA"/>
              </a:buClr>
            </a:pPr>
            <a:r>
              <a:t>Audience engagement: interactive real-stakes content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Calibri"/>
              </a:defRPr>
              <a:buChar char="•"/>
              <a:buClr>
                <a:srgbClr val="00D4AA"/>
              </a:buClr>
            </a:pPr>
            <a:r>
              <a:t>Verified badge: curated list of trusted proposers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Calibri"/>
              </a:defRPr>
              <a:buChar char="•"/>
              <a:buClr>
                <a:srgbClr val="00D4AA"/>
              </a:buClr>
            </a:pPr>
            <a:r>
              <a:t>Grants: seed funding for first markets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371600"/>
            <a:ext cx="3840480" cy="32004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0" y="150876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vs. existing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965960"/>
            <a:ext cx="32918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94A3B8"/>
                </a:solidFill>
                <a:latin typeface="Calibri"/>
              </a:defRPr>
            </a:pPr>
            <a:r>
              <a:t>Twitch Predictions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19456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Fake currency, no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606039"/>
            <a:ext cx="32918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94A3B8"/>
                </a:solidFill>
                <a:latin typeface="Calibri"/>
              </a:defRPr>
            </a:pPr>
            <a:r>
              <a:t>Crypto casinos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834639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House always wins, no creator cut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246120"/>
            <a:ext cx="32918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94A3B8"/>
                </a:solidFill>
                <a:latin typeface="Calibri"/>
              </a:defRPr>
            </a:pPr>
            <a:r>
              <a:t>Polymarket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47472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No creator economics, trading UX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886200"/>
            <a:ext cx="32918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This protocol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411480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00D4AA"/>
                </a:solidFill>
                <a:latin typeface="Calibri"/>
              </a:defRPr>
            </a:pPr>
            <a:r>
              <a:t>Real revenue share, social UX,</a:t>
            </a:r>
            <a:br/>
            <a:r>
              <a:t>permissionless, on-chain trust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Machine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The protocol AI agents bet 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63040"/>
            <a:ext cx="1463040" cy="5486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D4AA"/>
                </a:solidFill>
                <a:latin typeface="Calibri"/>
              </a:defRPr>
            </a:pPr>
            <a:r>
              <a:t>LLM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508760"/>
            <a:ext cx="320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057400" y="1463040"/>
            <a:ext cx="1463040" cy="5486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08760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MCP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508760"/>
            <a:ext cx="320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1463040"/>
            <a:ext cx="1463040" cy="5486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1508760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Indexer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1508760"/>
            <a:ext cx="320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59" y="1463040"/>
            <a:ext cx="1463040" cy="5486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59" y="1508760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Smart Contract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1508760"/>
            <a:ext cx="320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1463040"/>
            <a:ext cx="1463040" cy="5486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1508760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0D4AA"/>
                </a:solidFill>
                <a:latin typeface="Calibri"/>
              </a:defRPr>
            </a:pPr>
            <a:r>
              <a:t>Settlement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286000"/>
            <a:ext cx="2743200" cy="25603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37744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MCP 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743200"/>
            <a:ext cx="237744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10 tools: list_markets, get_market,</a:t>
            </a:r>
            <a:br/>
            <a:r>
              <a:t>calculate_odds, create_market,</a:t>
            </a:r>
            <a:br/>
            <a:r>
              <a:t>place_bet, resolve, claim, expire,</a:t>
            </a:r>
            <a:br/>
            <a:r>
              <a:t>approve_token, get_expire_candidates</a:t>
            </a:r>
            <a:br/>
            <a:br/>
            <a:r>
              <a:t>Works with Claude, GPT, any</a:t>
            </a:r>
            <a:br/>
            <a:r>
              <a:t>MCP-compatible agent.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6120" y="2286000"/>
            <a:ext cx="2743200" cy="25603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29000" y="237744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JSON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2743200"/>
            <a:ext cx="237744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RESTful indexer API:</a:t>
            </a:r>
            <a:br/>
            <a:r>
              <a:t>GET /markets (filter by state)</a:t>
            </a:r>
            <a:br/>
            <a:r>
              <a:t>GET /markets/:addr (full detail)</a:t>
            </a:r>
            <a:br/>
            <a:r>
              <a:t>GET /sweeper/expire-candidates</a:t>
            </a:r>
            <a:br/>
            <a:br/>
            <a:r>
              <a:t>Deterministic, reorg-safe,</a:t>
            </a:r>
            <a:br/>
            <a:r>
              <a:t>SQLite-backed.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286000"/>
            <a:ext cx="2743200" cy="25603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37744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On-Chain ABI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743200"/>
            <a:ext cx="237744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Foundry-generated ABIs for</a:t>
            </a:r>
            <a:br/>
            <a:r>
              <a:t>direct contract interaction.</a:t>
            </a:r>
            <a:br/>
            <a:br/>
            <a:r>
              <a:t>Permissionless: any agent with</a:t>
            </a:r>
            <a:br/>
            <a:r>
              <a:t>a wallet can create markets,</a:t>
            </a:r>
            <a:br/>
            <a:r>
              <a:t>place bets, and claim payouts.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Traction &amp;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4114800" cy="14630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Core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50876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200" b="1">
                <a:solidFill>
                  <a:srgbClr val="00D4AA"/>
                </a:solidFill>
                <a:latin typeface="Calibri"/>
              </a:defRPr>
            </a:pPr>
            <a:r>
              <a:t>Complete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365760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466 lines Solidity</a:t>
            </a:r>
            <a:br/>
            <a:r>
              <a:t>40+ tests, all passing</a:t>
            </a:r>
            <a:br/>
            <a:r>
              <a:t>Immutable, auditable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59" y="1371600"/>
            <a:ext cx="4114800" cy="14630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59" y="150876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59" y="150876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200" b="1">
                <a:solidFill>
                  <a:srgbClr val="00D4AA"/>
                </a:solidFill>
                <a:latin typeface="Calibri"/>
              </a:defRPr>
            </a:pPr>
            <a:r>
              <a:t>Functional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59" y="1874519"/>
            <a:ext cx="365760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Full lifecycle flows</a:t>
            </a:r>
            <a:br/>
            <a:r>
              <a:t>Odds/payout preview</a:t>
            </a:r>
            <a:br/>
            <a:r>
              <a:t>No build step required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108960"/>
            <a:ext cx="4114800" cy="14630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2461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Indexer +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2461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200" b="1">
                <a:solidFill>
                  <a:srgbClr val="00D4AA"/>
                </a:solidFill>
                <a:latin typeface="Calibri"/>
              </a:defRPr>
            </a:pPr>
            <a:r>
              <a:t>Operational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11880"/>
            <a:ext cx="365760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Reorg-safe ingestion</a:t>
            </a:r>
            <a:br/>
            <a:r>
              <a:t>Deterministic replay</a:t>
            </a:r>
            <a:br/>
            <a:r>
              <a:t>JSON API serving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9159" y="3108960"/>
            <a:ext cx="4114800" cy="14630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59" y="32461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Testnet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59" y="32461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200" b="1">
                <a:solidFill>
                  <a:srgbClr val="00D4AA"/>
                </a:solidFill>
                <a:latin typeface="Calibri"/>
              </a:defRPr>
            </a:pPr>
            <a:r>
              <a:t>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59" y="3611880"/>
            <a:ext cx="365760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Base Sepolia deployed</a:t>
            </a:r>
            <a:br/>
            <a:r>
              <a:t>Integration suite passing</a:t>
            </a:r>
            <a:br/>
            <a:r>
              <a:t>Factory verified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1965960" cy="32918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600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600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Completed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2103120"/>
            <a:ext cx="1691640" cy="23774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Calibri"/>
              </a:defRPr>
              <a:buChar char="•"/>
              <a:buClr>
                <a:srgbClr val="00D4AA"/>
              </a:buClr>
            </a:pPr>
            <a:r>
              <a:t>Core protocol + tests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Calibri"/>
              </a:defRPr>
              <a:buChar char="•"/>
              <a:buClr>
                <a:srgbClr val="00D4AA"/>
              </a:buClr>
            </a:pPr>
            <a:r>
              <a:t>dApp (full lifecycle)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Calibri"/>
              </a:defRPr>
              <a:buChar char="•"/>
              <a:buClr>
                <a:srgbClr val="00D4AA"/>
              </a:buClr>
            </a:pPr>
            <a:r>
              <a:t>Indexer + API + sweeper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Calibri"/>
              </a:defRPr>
              <a:buChar char="•"/>
              <a:buClr>
                <a:srgbClr val="00D4AA"/>
              </a:buClr>
            </a:pPr>
            <a:r>
              <a:t>Chain + fee research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Calibri"/>
              </a:defRPr>
              <a:buChar char="•"/>
              <a:buClr>
                <a:srgbClr val="00D4AA"/>
              </a:buClr>
            </a:pPr>
            <a:r>
              <a:t>Base Sepolia deployment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600" y="1371600"/>
            <a:ext cx="1965960" cy="32918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1463040"/>
            <a:ext cx="1600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737360"/>
            <a:ext cx="1600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Near-term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103120"/>
            <a:ext cx="1691640" cy="23774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  <a:buChar char="•"/>
              <a:buClr>
                <a:srgbClr val="00D4AA"/>
              </a:buClr>
            </a:pPr>
            <a:r>
              <a:t>Security audit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  <a:buChar char="•"/>
              <a:buClr>
                <a:srgbClr val="00D4AA"/>
              </a:buClr>
            </a:pPr>
            <a:r>
              <a:t>Governance Safe setup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  <a:buChar char="•"/>
              <a:buClr>
                <a:srgbClr val="00D4AA"/>
              </a:buClr>
            </a:pPr>
            <a:r>
              <a:t>Mainnet deployment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  <a:buChar char="•"/>
              <a:buClr>
                <a:srgbClr val="00D4AA"/>
              </a:buClr>
            </a:pPr>
            <a:r>
              <a:t>Creator onboarding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  <a:buChar char="•"/>
              <a:buClr>
                <a:srgbClr val="00D4AA"/>
              </a:buClr>
            </a:pPr>
            <a:r>
              <a:t>MCP server launch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371600"/>
            <a:ext cx="1965960" cy="32918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1463040"/>
            <a:ext cx="1600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94A3B8"/>
                </a:solidFill>
                <a:latin typeface="Calibri"/>
              </a:defRPr>
            </a:pPr>
            <a:r>
              <a:t>LATER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737360"/>
            <a:ext cx="1600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Medium-term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103120"/>
            <a:ext cx="1691640" cy="23774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  <a:buChar char="•"/>
              <a:buClr>
                <a:srgbClr val="00D4AA"/>
              </a:buClr>
            </a:pPr>
            <a:r>
              <a:t>Multi-chain (Arbitrum)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  <a:buChar char="•"/>
              <a:buClr>
                <a:srgbClr val="00D4AA"/>
              </a:buClr>
            </a:pPr>
            <a:r>
              <a:t>Resolver modules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  <a:buChar char="•"/>
              <a:buClr>
                <a:srgbClr val="00D4AA"/>
              </a:buClr>
            </a:pPr>
            <a:r>
              <a:t>Mobile-optimized dApp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  <a:buChar char="•"/>
              <a:buClr>
                <a:srgbClr val="00D4AA"/>
              </a:buClr>
            </a:pPr>
            <a:r>
              <a:t>Farcaster Frames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  <a:buChar char="•"/>
              <a:buClr>
                <a:srgbClr val="00D4AA"/>
              </a:buClr>
            </a:pPr>
            <a:r>
              <a:t>Bot integrations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1371600"/>
            <a:ext cx="1965960" cy="32918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1463040"/>
            <a:ext cx="1600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94A3B8"/>
                </a:solidFill>
                <a:latin typeface="Calibri"/>
              </a:defRPr>
            </a:pPr>
            <a:r>
              <a:t>FUTURE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737360"/>
            <a:ext cx="1600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Long-term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103120"/>
            <a:ext cx="1691640" cy="23774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  <a:buChar char="•"/>
              <a:buClr>
                <a:srgbClr val="00D4AA"/>
              </a:buClr>
            </a:pPr>
            <a:r>
              <a:t>Decentralized resolution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  <a:buChar char="•"/>
              <a:buClr>
                <a:srgbClr val="00D4AA"/>
              </a:buClr>
            </a:pPr>
            <a:r>
              <a:t>Bonded dispute system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  <a:buChar char="•"/>
              <a:buClr>
                <a:srgbClr val="00D4AA"/>
              </a:buClr>
            </a:pPr>
            <a:r>
              <a:t>Wallet abstraction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  <a:buChar char="•"/>
              <a:buClr>
                <a:srgbClr val="00D4AA"/>
              </a:buClr>
            </a:pPr>
            <a:r>
              <a:t>Browser extension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  <a:buChar char="•"/>
              <a:buClr>
                <a:srgbClr val="00D4AA"/>
              </a:buClr>
            </a:pPr>
            <a:r>
              <a:t>Mainstream expansion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6400800" cy="2286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19456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[Team bios to be added]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6400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Relevant experience, domain expertise, and why this team</a:t>
            </a:r>
            <a:br/>
            <a:r>
              <a:t>is uniquely positioned to build the default prop bet protocol.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[Round size and terms to be determined]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Use of Funds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1371600" cy="3200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1097280" cy="3200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Security 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19456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20-30%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51760"/>
            <a:ext cx="1143000" cy="3200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651760"/>
            <a:ext cx="914400" cy="3200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5176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Creator Acquisition &amp; Grants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65176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20-25%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108960"/>
            <a:ext cx="1371600" cy="3200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108960"/>
            <a:ext cx="1097280" cy="3200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10896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10896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25-30%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685800" cy="3200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566160"/>
            <a:ext cx="548640" cy="3200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56616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Legal &amp; Compliance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56616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10-15%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023360"/>
            <a:ext cx="685800" cy="3200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023360"/>
            <a:ext cx="548640" cy="3200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02336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Operations &amp; Reserves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02336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10-15%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173736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Key Milestones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2194560"/>
            <a:ext cx="3200400" cy="2286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Calibri"/>
              </a:defRPr>
              <a:buChar char="•"/>
              <a:buClr>
                <a:srgbClr val="00D4AA"/>
              </a:buClr>
            </a:pPr>
            <a:r>
              <a:t>Security audit completed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Calibri"/>
              </a:defRPr>
              <a:buChar char="•"/>
              <a:buClr>
                <a:srgbClr val="00D4AA"/>
              </a:buClr>
            </a:pPr>
            <a:r>
              <a:t>Mainnet launch on Base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Calibri"/>
              </a:defRPr>
              <a:buChar char="•"/>
              <a:buClr>
                <a:srgbClr val="00D4AA"/>
              </a:buClr>
            </a:pPr>
            <a:r>
              <a:t>10+ active creator proposers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Calibri"/>
              </a:defRPr>
              <a:buChar char="•"/>
              <a:buClr>
                <a:srgbClr val="00D4AA"/>
              </a:buClr>
            </a:pPr>
            <a:r>
              <a:t>$100k monthly handle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Calibri"/>
              </a:defRPr>
              <a:buChar char="•"/>
              <a:buClr>
                <a:srgbClr val="00D4AA"/>
              </a:buClr>
            </a:pPr>
            <a:r>
              <a:t>5+ bot/agent integrations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Why Now, Why Us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44752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0D4AA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6858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L2 costs finally make per-market contract deployment viable at scale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7863840" cy="5486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30552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0D4AA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48840"/>
            <a:ext cx="6858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Prediction market mania proved demand — we serve the adjacent unmet need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43200"/>
            <a:ext cx="7863840" cy="5486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16352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0D4AA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834640"/>
            <a:ext cx="6858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Immutable protocol = credible neutrality from day 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429000"/>
            <a:ext cx="7863840" cy="5486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502152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0D4AA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520440"/>
            <a:ext cx="6858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Machine-first design = positioned for the AI agent era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187952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0D4AA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206240"/>
            <a:ext cx="6858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Creator economics = built-in distribution and retention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PARAMUTUEL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7863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00D4AA"/>
                </a:solidFill>
                <a:latin typeface="Calibri"/>
              </a:defRPr>
            </a:pPr>
            <a:r>
              <a:t>The on-chain prop bet primitive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2743200"/>
            <a:ext cx="4572000" cy="13716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28346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00D4AA"/>
                </a:solidFill>
                <a:latin typeface="Calibri"/>
              </a:defRPr>
            </a:pPr>
            <a:r>
              <a:t>Try it now on Base Sepolia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3200400"/>
            <a:ext cx="42062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Factory: 0xb288575730Eff094d21d13f1705eB671e8799E70</a:t>
            </a:r>
            <a:br/>
            <a:br/>
            <a:r>
              <a:t>[contact info]  |  [GitHub]  |  [docs]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